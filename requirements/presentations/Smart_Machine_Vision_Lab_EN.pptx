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52d55e1d514bed" /><Relationship Type="http://schemas.openxmlformats.org/officeDocument/2006/relationships/extended-properties" Target="/docProps/app.xml" Id="R30dff967cd5a416b" /><Relationship Type="http://schemas.openxmlformats.org/officeDocument/2006/relationships/officeDocument" Target="/ppt/presentation.xml" Id="R7fc0b4cf89224a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bf573585334398"/>
  </p:sldMasterIdLst>
  <p:notesMasterIdLst>
    <p:notesMasterId xmlns:r="http://schemas.openxmlformats.org/officeDocument/2006/relationships" r:id="R9c44ef8324b240bd"/>
  </p:notesMasterIdLst>
  <p:sldIdLst>
    <p:sldId xmlns:r="http://schemas.openxmlformats.org/officeDocument/2006/relationships" id="256" r:id="R4011d39baadf4583"/>
    <p:sldId xmlns:r="http://schemas.openxmlformats.org/officeDocument/2006/relationships" id="257" r:id="Reba33db47b934804"/>
    <p:sldId xmlns:r="http://schemas.openxmlformats.org/officeDocument/2006/relationships" id="258" r:id="R1dd51ffe21b440a3"/>
    <p:sldId xmlns:r="http://schemas.openxmlformats.org/officeDocument/2006/relationships" id="259" r:id="Rbac7dcc800ee4c7e"/>
    <p:sldId xmlns:r="http://schemas.openxmlformats.org/officeDocument/2006/relationships" id="260" r:id="R94c73038ea2d409c"/>
    <p:sldId xmlns:r="http://schemas.openxmlformats.org/officeDocument/2006/relationships" id="261" r:id="Rbf18c08a90e84240"/>
    <p:sldId xmlns:r="http://schemas.openxmlformats.org/officeDocument/2006/relationships" id="262" r:id="R6f67e48238ed4ab6"/>
    <p:sldId xmlns:r="http://schemas.openxmlformats.org/officeDocument/2006/relationships" id="263" r:id="Redadc87a5e78411e"/>
    <p:sldId xmlns:r="http://schemas.openxmlformats.org/officeDocument/2006/relationships" id="264" r:id="R57dc5d010ea74480"/>
    <p:sldId xmlns:r="http://schemas.openxmlformats.org/officeDocument/2006/relationships" id="265" r:id="Rfc5abd461938457d"/>
    <p:sldId xmlns:r="http://schemas.openxmlformats.org/officeDocument/2006/relationships" id="266" r:id="R6b094438efdd47f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574a93ccc14f99" /><Relationship Type="http://schemas.openxmlformats.org/officeDocument/2006/relationships/slideMaster" Target="/ppt/slideMasters/slideMaster1.xml" Id="Re3bf573585334398" /><Relationship Type="http://schemas.openxmlformats.org/officeDocument/2006/relationships/notesMaster" Target="/ppt/notesMasters/notesMaster1.xml" Id="R9c44ef8324b240bd" /><Relationship Type="http://schemas.openxmlformats.org/officeDocument/2006/relationships/presProps" Target="/ppt/presProps.xml" Id="R413947a6170d43e2" /><Relationship Type="http://schemas.openxmlformats.org/officeDocument/2006/relationships/tableStyles" Target="/ppt/tableStyles.xml" Id="R00563377161e4a47" /><Relationship Type="http://schemas.openxmlformats.org/officeDocument/2006/relationships/slide" Target="/ppt/slides/slide1.xml" Id="R4011d39baadf4583" /><Relationship Type="http://schemas.openxmlformats.org/officeDocument/2006/relationships/slide" Target="/ppt/slides/slide2.xml" Id="Reba33db47b934804" /><Relationship Type="http://schemas.openxmlformats.org/officeDocument/2006/relationships/slide" Target="/ppt/slides/slide3.xml" Id="R1dd51ffe21b440a3" /><Relationship Type="http://schemas.openxmlformats.org/officeDocument/2006/relationships/slide" Target="/ppt/slides/slide4.xml" Id="Rbac7dcc800ee4c7e" /><Relationship Type="http://schemas.openxmlformats.org/officeDocument/2006/relationships/slide" Target="/ppt/slides/slide5.xml" Id="R94c73038ea2d409c" /><Relationship Type="http://schemas.openxmlformats.org/officeDocument/2006/relationships/slide" Target="/ppt/slides/slide6.xml" Id="Rbf18c08a90e84240" /><Relationship Type="http://schemas.openxmlformats.org/officeDocument/2006/relationships/slide" Target="/ppt/slides/slide7.xml" Id="R6f67e48238ed4ab6" /><Relationship Type="http://schemas.openxmlformats.org/officeDocument/2006/relationships/slide" Target="/ppt/slides/slide8.xml" Id="Redadc87a5e78411e" /><Relationship Type="http://schemas.openxmlformats.org/officeDocument/2006/relationships/slide" Target="/ppt/slides/slide9.xml" Id="R57dc5d010ea74480" /><Relationship Type="http://schemas.openxmlformats.org/officeDocument/2006/relationships/slide" Target="/ppt/slides/slide10.xml" Id="Rfc5abd461938457d" /><Relationship Type="http://schemas.openxmlformats.org/officeDocument/2006/relationships/slide" Target="/ppt/slides/slide11.xml" Id="R6b094438efdd47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4032966d0d45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152489991c47c6" /><Relationship Type="http://schemas.openxmlformats.org/officeDocument/2006/relationships/notesMaster" Target="/ppt/notesMasters/notesMaster1.xml" Id="Rd17fb56f9e2b46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dd37a38aad4fed" /><Relationship Type="http://schemas.openxmlformats.org/officeDocument/2006/relationships/notesMaster" Target="/ppt/notesMasters/notesMaster1.xml" Id="R86381952a21748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f9f94191a6445d" /><Relationship Type="http://schemas.openxmlformats.org/officeDocument/2006/relationships/notesMaster" Target="/ppt/notesMasters/notesMaster1.xml" Id="R3f3c2262ac0043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e380c95534434a" /><Relationship Type="http://schemas.openxmlformats.org/officeDocument/2006/relationships/notesMaster" Target="/ppt/notesMasters/notesMaster1.xml" Id="R19750ed193cf46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52b4ebb81a4c57" /><Relationship Type="http://schemas.openxmlformats.org/officeDocument/2006/relationships/notesMaster" Target="/ppt/notesMasters/notesMaster1.xml" Id="Rb2e8c84e3018437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cc766f53e574426" /><Relationship Type="http://schemas.openxmlformats.org/officeDocument/2006/relationships/notesMaster" Target="/ppt/notesMasters/notesMaster1.xml" Id="Rfdd98d2bc1f2471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25494fc1954159" /><Relationship Type="http://schemas.openxmlformats.org/officeDocument/2006/relationships/notesMaster" Target="/ppt/notesMasters/notesMaster1.xml" Id="Rfa6a92914766497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9e0f0667064da2" /><Relationship Type="http://schemas.openxmlformats.org/officeDocument/2006/relationships/notesMaster" Target="/ppt/notesMasters/notesMaster1.xml" Id="R16251195202243c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8506e961c334b8a" /><Relationship Type="http://schemas.openxmlformats.org/officeDocument/2006/relationships/notesMaster" Target="/ppt/notesMasters/notesMaster1.xml" Id="Re769bc7360264e5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130e16ae082432c" /><Relationship Type="http://schemas.openxmlformats.org/officeDocument/2006/relationships/notesMaster" Target="/ppt/notesMasters/notesMaster1.xml" Id="R870435c6204e4b7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d480202ead048f4" /><Relationship Type="http://schemas.openxmlformats.org/officeDocument/2006/relationships/notesMaster" Target="/ppt/notesMasters/notesMaster1.xml" Id="Rce0864d7a1624b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SVW.mp4, 00:00. Original slides by Stef Van Wolputte, Thomas More University of Applied Sciences.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SVW.mp4, 00:20. Original slides by Stef Van Wolputte, Thomas More University of Applied Sciences.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SVW.mp4, 00:40–01:40. Original slides by Stef Van Wolputte, Thomas More University of Applied Sciences.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SVW.mp4, 02:00–02:20. Original slides by Stef Van Wolputte, Thomas More University of Applied Sciences.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SVW.mp4, 02:40–03:20. Original slides by Stef Van Wolputte, Thomas More University of Applied Sciences.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SVW.mp4, 03:40–04:40. Original slides by Stef Van Wolputte, Thomas More University of Applied Sciences.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SVW.mp4, 05:00–06:20. Original slides by Stef Van Wolputte, Thomas More University of Applied Sciences.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SVW.mp4, 06:40–07:20. Original slides by Stef Van Wolputte, Thomas More University of Applied Sciences.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SVW.mp4, 07:40–08:20. Original slides by Stef Van Wolputte, Thomas More University of Applied Sciences.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SVW.mp4, 08:40–09:00. Original slides by Stef Van Wolputte, Thomas More University of Applied Sciences.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SVW.mp4, 09:20–10:07. Original slides by Stef Van Wolputte, Thomas More University of Applied Sciences.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a32a36aa4844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9113d06a364c4d" /><Relationship Type="http://schemas.openxmlformats.org/officeDocument/2006/relationships/slideLayout" Target="/ppt/slideLayouts/slideLayout1.xml" Id="Rc4ba5703dac844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ba5703dac844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9cab6d26f143b1" /><Relationship Type="http://schemas.openxmlformats.org/officeDocument/2006/relationships/notesSlide" Target="/ppt/notesSlides/notesSlide1.xml" Id="Ra8a664d36eab43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27c4703e634dad" /><Relationship Type="http://schemas.openxmlformats.org/officeDocument/2006/relationships/image" Target="/ppt/media/image.jpeg" Id="Red4c249d28a9433f" /><Relationship Type="http://schemas.openxmlformats.org/officeDocument/2006/relationships/notesSlide" Target="/ppt/notesSlides/notesSlide2.xml" Id="Re65e8125523941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2ffb429efe43ed" /><Relationship Type="http://schemas.openxmlformats.org/officeDocument/2006/relationships/image" Target="/ppt/media/image2.jpeg" Id="R15955e38079146da" /><Relationship Type="http://schemas.openxmlformats.org/officeDocument/2006/relationships/notesSlide" Target="/ppt/notesSlides/notesSlide3.xml" Id="R647fcbf6092a45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8feca8d6304cf8" /><Relationship Type="http://schemas.openxmlformats.org/officeDocument/2006/relationships/image" Target="/ppt/media/image3.jpeg" Id="R41bbd6d223d04fe0" /><Relationship Type="http://schemas.openxmlformats.org/officeDocument/2006/relationships/notesSlide" Target="/ppt/notesSlides/notesSlide4.xml" Id="R001cade0fc294b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b4fce4bd5e4917" /><Relationship Type="http://schemas.openxmlformats.org/officeDocument/2006/relationships/image" Target="/ppt/media/image4.jpeg" Id="R2032acdd0648447b" /><Relationship Type="http://schemas.openxmlformats.org/officeDocument/2006/relationships/notesSlide" Target="/ppt/notesSlides/notesSlide5.xml" Id="R9d44ec343e63402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071d1be4db40a7" /><Relationship Type="http://schemas.openxmlformats.org/officeDocument/2006/relationships/notesSlide" Target="/ppt/notesSlides/notesSlide6.xml" Id="Rb09a58746384472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e54e4dad8e4bc9" /><Relationship Type="http://schemas.openxmlformats.org/officeDocument/2006/relationships/image" Target="/ppt/media/image5.jpeg" Id="Rcd9233f279184a69" /><Relationship Type="http://schemas.openxmlformats.org/officeDocument/2006/relationships/notesSlide" Target="/ppt/notesSlides/notesSlide7.xml" Id="Rad51c6b866f2454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fcc2d980ac434c" /><Relationship Type="http://schemas.openxmlformats.org/officeDocument/2006/relationships/image" Target="/ppt/media/image6.jpeg" Id="Rf3fe9ddfaa8a4d59" /><Relationship Type="http://schemas.openxmlformats.org/officeDocument/2006/relationships/notesSlide" Target="/ppt/notesSlides/notesSlide8.xml" Id="Rc601ed8a4915422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248b05c3594744" /><Relationship Type="http://schemas.openxmlformats.org/officeDocument/2006/relationships/image" Target="/ppt/media/image7.jpeg" Id="R3fd3085a49c94253" /><Relationship Type="http://schemas.openxmlformats.org/officeDocument/2006/relationships/notesSlide" Target="/ppt/notesSlides/notesSlide9.xml" Id="R1963c41fc32d469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3791606c204a5e" /><Relationship Type="http://schemas.openxmlformats.org/officeDocument/2006/relationships/image" Target="/ppt/media/image8.jpeg" Id="Rb8a3f0be04c449ea" /><Relationship Type="http://schemas.openxmlformats.org/officeDocument/2006/relationships/notesSlide" Target="/ppt/notesSlides/notesSlide10.xml" Id="Ra08231565405427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3407a5514a4fd1" /><Relationship Type="http://schemas.openxmlformats.org/officeDocument/2006/relationships/image" Target="/ppt/media/image9.jpeg" Id="R0d6887331dad4f7d" /><Relationship Type="http://schemas.openxmlformats.org/officeDocument/2006/relationships/notesSlide" Target="/ppt/notesSlides/notesSlide11.xml" Id="R420c9c0af03f443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6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mart Machine&#10;Vision Lab">
            <a:extLst xmlns:a="http://schemas.openxmlformats.org/drawingml/2006/main">
              <a:ext uri="{FF2B5EF4-FFF2-40B4-BE49-F238E27FC236}">
                <a16:creationId xmlns:a16="http://schemas.microsoft.com/office/drawing/2014/main" id="{95A3EAF1-0B65-4031-8771-E4BA6334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763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Smart Machine</a:t>
            </a:r>
          </a:p>
          <a:p xmlns:a="http://schemas.openxmlformats.org/drawingml/2006/main">
            <a:pPr>
              <a:buNone/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Vision Lab</a:t>
            </a:r>
          </a:p>
        </p:txBody>
      </p:sp>
      <p:sp>
        <p:nvSpPr>
          <p:cNvPr id="2" name="Managing a Machine Vision Laboratory">
            <a:extLst xmlns:a="http://schemas.openxmlformats.org/drawingml/2006/main">
              <a:ext uri="{FF2B5EF4-FFF2-40B4-BE49-F238E27FC236}">
                <a16:creationId xmlns:a16="http://schemas.microsoft.com/office/drawing/2014/main" id="{6E4527CB-5C1E-49B3-84D3-C1B7DAC4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05225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Managing a Machine Vision Laboratory</a:t>
            </a:r>
          </a:p>
        </p:txBody>
      </p:sp>
      <p:sp>
        <p:nvSpPr>
          <p:cNvPr id="3" name="SKIL2 · Stef Van Wolputte&#10;Thomas More University of Applied ">
            <a:extLst xmlns:a="http://schemas.openxmlformats.org/drawingml/2006/main">
              <a:ext uri="{FF2B5EF4-FFF2-40B4-BE49-F238E27FC236}">
                <a16:creationId xmlns:a16="http://schemas.microsoft.com/office/drawing/2014/main" id="{333BB0A4-CCD4-4FB3-B827-9D7CD4E0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SKIL2 · Stef Van Wolputte</a:t>
            </a:r>
          </a:p>
          <a:p xmlns:a="http://schemas.openxmlformats.org/drawingml/2006/main">
            <a:pPr>
              <a:buNone/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Thomas More University of Applied Sciences</a:t>
            </a:r>
          </a:p>
        </p:txBody>
      </p:sp>
    </p:spTree>
    <p:extLst>
      <p:ext uri="{BB962C8B-B14F-4D97-AF65-F5344CB8AC3E}">
        <p14:creationId xmlns:p14="http://schemas.microsoft.com/office/powerpoint/2010/main" val="4676205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he Author and Coordinator’s Role">
            <a:extLst xmlns:a="http://schemas.openxmlformats.org/drawingml/2006/main">
              <a:ext uri="{FF2B5EF4-FFF2-40B4-BE49-F238E27FC236}">
                <a16:creationId xmlns:a16="http://schemas.microsoft.com/office/drawing/2014/main" id="{5F07BDC8-B7F4-4170-9C0B-CCA67683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FF642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6426"/>
                </a:solidFill>
                <a:latin typeface="Arial"/>
                <a:ea typeface="Arial"/>
                <a:cs typeface="Arial"/>
              </a:rPr>
              <a:t>The Author and Coordinator’s Role</a:t>
            </a:r>
          </a:p>
        </p:txBody>
      </p:sp>
      <p:sp>
        <p:nvSpPr>
          <p:cNvPr id="2" name="02">
            <a:extLst xmlns:a="http://schemas.openxmlformats.org/drawingml/2006/main">
              <a:ext uri="{FF2B5EF4-FFF2-40B4-BE49-F238E27FC236}">
                <a16:creationId xmlns:a16="http://schemas.microsoft.com/office/drawing/2014/main" id="{EB6E16A2-F3C2-4630-98B9-2A2C997D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560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560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4c249d28a9433f"/>
          <a:stretch xmlns:a="http://schemas.openxmlformats.org/drawingml/2006/main"/>
        </p:blipFill>
        <p:spPr>
          <a:xfrm xmlns:a="http://schemas.openxmlformats.org/drawingml/2006/main">
            <a:off x="619125" y="2063974"/>
            <a:ext cx="3619500" cy="3492053"/>
          </a:xfrm>
          <a:prstGeom xmlns:a="http://schemas.openxmlformats.org/drawingml/2006/main" prst="rect">
            <a:avLst/>
          </a:prstGeom>
        </p:spPr>
      </p:pic>
      <p:sp>
        <p:nvSpPr>
          <p:cNvPr id="4" name="Stef Van Wolputte">
            <a:extLst xmlns:a="http://schemas.openxmlformats.org/drawingml/2006/main">
              <a:ext uri="{FF2B5EF4-FFF2-40B4-BE49-F238E27FC236}">
                <a16:creationId xmlns:a16="http://schemas.microsoft.com/office/drawing/2014/main" id="{152353DB-487D-4B33-808E-694A2C874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28800"/>
            <a:ext cx="657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2432"/>
                </a:solidFill>
                <a:latin typeface="Arial"/>
                <a:ea typeface="Arial"/>
                <a:cs typeface="Arial"/>
              </a:rPr>
              <a:t>Stef Van Wolputte</a:t>
            </a:r>
          </a:p>
        </p:txBody>
      </p:sp>
      <p:sp>
        <p:nvSpPr>
          <p:cNvPr id="5" name="Teacher and Coordinator&#10;Machine Vision Lab">
            <a:extLst xmlns:a="http://schemas.openxmlformats.org/drawingml/2006/main">
              <a:ext uri="{FF2B5EF4-FFF2-40B4-BE49-F238E27FC236}">
                <a16:creationId xmlns:a16="http://schemas.microsoft.com/office/drawing/2014/main" id="{1410FF02-2BEF-4CBB-B308-09CA8EB51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71750"/>
            <a:ext cx="657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82432"/>
                </a:solidFill>
                <a:latin typeface="Arial"/>
                <a:ea typeface="Arial"/>
                <a:cs typeface="Arial"/>
              </a:rPr>
              <a:t>Teacher and Coordinator</a:t>
            </a:r>
          </a:p>
          <a:p xmlns:a="http://schemas.openxmlformats.org/drawingml/2006/main">
            <a:pPr>
              <a:buNone/>
              <a:defRPr sz="2400" b="0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82432"/>
                </a:solidFill>
                <a:latin typeface="Arial"/>
                <a:ea typeface="Arial"/>
                <a:cs typeface="Arial"/>
              </a:rPr>
              <a:t>Machine Vision Lab</a:t>
            </a:r>
          </a:p>
        </p:txBody>
      </p:sp>
      <p:sp>
        <p:nvSpPr>
          <p:cNvPr id="6" name="Responsibilities">
            <a:extLst xmlns:a="http://schemas.openxmlformats.org/drawingml/2006/main">
              <a:ext uri="{FF2B5EF4-FFF2-40B4-BE49-F238E27FC236}">
                <a16:creationId xmlns:a16="http://schemas.microsoft.com/office/drawing/2014/main" id="{E9119A53-1AB9-49F3-B1E1-59D36C05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10000"/>
            <a:ext cx="647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2432"/>
                </a:solidFill>
                <a:latin typeface="Arial"/>
                <a:ea typeface="Arial"/>
                <a:cs typeface="Arial"/>
              </a:rPr>
              <a:t>Responsibilities</a:t>
            </a:r>
          </a:p>
        </p:txBody>
      </p:sp>
      <p:sp>
        <p:nvSpPr>
          <p:cNvPr id="7" name="Internal and external training programs.&#10;Supporting students">
            <a:extLst xmlns:a="http://schemas.openxmlformats.org/drawingml/2006/main">
              <a:ext uri="{FF2B5EF4-FFF2-40B4-BE49-F238E27FC236}">
                <a16:creationId xmlns:a16="http://schemas.microsoft.com/office/drawing/2014/main" id="{5F85FE87-7E21-4795-9C9C-31BD54EF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86250"/>
            <a:ext cx="647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2"/>
                </a:solidFill>
                <a:latin typeface="Arial"/>
                <a:ea typeface="Arial"/>
                <a:cs typeface="Arial"/>
              </a:rPr>
              <a:t>Internal and external training programs.</a:t>
            </a:r>
          </a:p>
          <a:p xmlns:a="http://schemas.openxmlformats.org/drawingml/2006/main">
            <a:pPr>
              <a:buNone/>
              <a:defRPr sz="2025" b="0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2"/>
                </a:solidFill>
                <a:latin typeface="Arial"/>
                <a:ea typeface="Arial"/>
                <a:cs typeface="Arial"/>
              </a:rPr>
              <a:t>Supporting students and project teams.</a:t>
            </a:r>
          </a:p>
          <a:p xmlns:a="http://schemas.openxmlformats.org/drawingml/2006/main">
            <a:pPr>
              <a:buNone/>
              <a:defRPr sz="2025" b="0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2"/>
                </a:solidFill>
                <a:latin typeface="Arial"/>
                <a:ea typeface="Arial"/>
                <a:cs typeface="Arial"/>
              </a:rPr>
              <a:t>Managing resources and investments.</a:t>
            </a:r>
          </a:p>
        </p:txBody>
      </p:sp>
    </p:spTree>
    <p:extLst>
      <p:ext uri="{BB962C8B-B14F-4D97-AF65-F5344CB8AC3E}">
        <p14:creationId xmlns:p14="http://schemas.microsoft.com/office/powerpoint/2010/main" val="17153482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 Growing Laboratory">
            <a:extLst xmlns:a="http://schemas.openxmlformats.org/drawingml/2006/main">
              <a:ext uri="{FF2B5EF4-FFF2-40B4-BE49-F238E27FC236}">
                <a16:creationId xmlns:a16="http://schemas.microsoft.com/office/drawing/2014/main" id="{03105931-E481-4CE7-A923-D8D60118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FF642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6426"/>
                </a:solidFill>
                <a:latin typeface="Arial"/>
                <a:ea typeface="Arial"/>
                <a:cs typeface="Arial"/>
              </a:rPr>
              <a:t>A Growing Laboratory</a:t>
            </a:r>
          </a:p>
        </p:txBody>
      </p:sp>
      <p:sp>
        <p:nvSpPr>
          <p:cNvPr id="2" name="03">
            <a:extLst xmlns:a="http://schemas.openxmlformats.org/drawingml/2006/main">
              <a:ext uri="{FF2B5EF4-FFF2-40B4-BE49-F238E27FC236}">
                <a16:creationId xmlns:a16="http://schemas.microsoft.com/office/drawing/2014/main" id="{B003DC09-B2B0-4C39-B66F-1F74971B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560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560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Growth">
            <a:extLst xmlns:a="http://schemas.openxmlformats.org/drawingml/2006/main">
              <a:ext uri="{FF2B5EF4-FFF2-40B4-BE49-F238E27FC236}">
                <a16:creationId xmlns:a16="http://schemas.microsoft.com/office/drawing/2014/main" id="{F4A70201-FB7F-43C1-98F0-0BFA4F8E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2432"/>
                </a:solidFill>
                <a:latin typeface="Arial"/>
                <a:ea typeface="Arial"/>
                <a:cs typeface="Arial"/>
              </a:rPr>
              <a:t>Growth</a:t>
            </a:r>
          </a:p>
        </p:txBody>
      </p:sp>
      <p:sp>
        <p:nvSpPr>
          <p:cNvPr id="4" name="The Machine Vision course is growing.&#10;New equipment arrives ">
            <a:extLst xmlns:a="http://schemas.openxmlformats.org/drawingml/2006/main">
              <a:ext uri="{FF2B5EF4-FFF2-40B4-BE49-F238E27FC236}">
                <a16:creationId xmlns:a16="http://schemas.microsoft.com/office/drawing/2014/main" id="{654DEC55-520C-47A7-A851-9704559F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6191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2"/>
                </a:solidFill>
                <a:latin typeface="Arial"/>
                <a:ea typeface="Arial"/>
                <a:cs typeface="Arial"/>
              </a:rPr>
              <a:t>The Machine Vision course is growing.</a:t>
            </a:r>
          </a:p>
          <a:p xmlns:a="http://schemas.openxmlformats.org/drawingml/2006/main">
            <a:pPr>
              <a:buNone/>
              <a:defRPr sz="2025" b="0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2"/>
                </a:solidFill>
                <a:latin typeface="Arial"/>
                <a:ea typeface="Arial"/>
                <a:cs typeface="Arial"/>
              </a:rPr>
              <a:t>New equipment arrives regularly</a:t>
            </a:r>
          </a:p>
          <a:p xmlns:a="http://schemas.openxmlformats.org/drawingml/2006/main">
            <a:pPr>
              <a:buNone/>
              <a:defRPr sz="2025" b="0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2"/>
                </a:solidFill>
                <a:latin typeface="Arial"/>
                <a:ea typeface="Arial"/>
                <a:cs typeface="Arial"/>
              </a:rPr>
              <a:t>from different sources.</a:t>
            </a:r>
          </a:p>
          <a:p xmlns:a="http://schemas.openxmlformats.org/drawingml/2006/main">
            <a:pPr>
              <a:buNone/>
              <a:defRPr sz="2025" b="0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2"/>
                </a:solidFill>
                <a:latin typeface="Arial"/>
                <a:ea typeface="Arial"/>
                <a:cs typeface="Arial"/>
              </a:rPr>
              <a:t>Future needs are difficult to estimate.</a:t>
            </a:r>
          </a:p>
        </p:txBody>
      </p:sp>
      <p:sp>
        <p:nvSpPr>
          <p:cNvPr id="5" name="Constraints">
            <a:extLst xmlns:a="http://schemas.openxmlformats.org/drawingml/2006/main">
              <a:ext uri="{FF2B5EF4-FFF2-40B4-BE49-F238E27FC236}">
                <a16:creationId xmlns:a16="http://schemas.microsoft.com/office/drawing/2014/main" id="{39EA2A47-0134-4D2F-8A32-287372C08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2432"/>
                </a:solidFill>
                <a:latin typeface="Arial"/>
                <a:ea typeface="Arial"/>
                <a:cs typeface="Arial"/>
              </a:rPr>
              <a:t>Constraints</a:t>
            </a:r>
          </a:p>
        </p:txBody>
      </p:sp>
      <p:sp>
        <p:nvSpPr>
          <p:cNvPr id="6" name="Equipment is expensive, and some devices&#10;are available in li">
            <a:extLst xmlns:a="http://schemas.openxmlformats.org/drawingml/2006/main">
              <a:ext uri="{FF2B5EF4-FFF2-40B4-BE49-F238E27FC236}">
                <a16:creationId xmlns:a16="http://schemas.microsoft.com/office/drawing/2014/main" id="{281FAF49-2A51-4C96-8F5C-2A11E4BC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6191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2"/>
                </a:solidFill>
                <a:latin typeface="Arial"/>
                <a:ea typeface="Arial"/>
                <a:cs typeface="Arial"/>
              </a:rPr>
              <a:t>Equipment is expensive, and some devices</a:t>
            </a:r>
          </a:p>
          <a:p xmlns:a="http://schemas.openxmlformats.org/drawingml/2006/main">
            <a:pPr>
              <a:buNone/>
              <a:defRPr sz="2025" b="0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2"/>
                </a:solidFill>
                <a:latin typeface="Arial"/>
                <a:ea typeface="Arial"/>
                <a:cs typeface="Arial"/>
              </a:rPr>
              <a:t>are available in limited quantities.</a:t>
            </a:r>
          </a:p>
          <a:p xmlns:a="http://schemas.openxmlformats.org/drawingml/2006/main">
            <a:pPr>
              <a:buNone/>
              <a:defRPr sz="2025" b="0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2"/>
                </a:solidFill>
                <a:latin typeface="Arial"/>
                <a:ea typeface="Arial"/>
                <a:cs typeface="Arial"/>
              </a:rPr>
              <a:t>Students, teams and training programs</a:t>
            </a:r>
          </a:p>
          <a:p xmlns:a="http://schemas.openxmlformats.org/drawingml/2006/main">
            <a:pPr>
              <a:buNone/>
              <a:defRPr sz="2025" b="0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2"/>
                </a:solidFill>
                <a:latin typeface="Arial"/>
                <a:ea typeface="Arial"/>
                <a:cs typeface="Arial"/>
              </a:rPr>
              <a:t>share the same resources.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955e38079146da"/>
          <a:stretch xmlns:a="http://schemas.openxmlformats.org/drawingml/2006/main"/>
        </p:blipFill>
        <p:spPr>
          <a:xfrm xmlns:a="http://schemas.openxmlformats.org/drawingml/2006/main">
            <a:off x="7239000" y="1955283"/>
            <a:ext cx="4343400" cy="38046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7337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he Lab as a Learning Library">
            <a:extLst xmlns:a="http://schemas.openxmlformats.org/drawingml/2006/main">
              <a:ext uri="{FF2B5EF4-FFF2-40B4-BE49-F238E27FC236}">
                <a16:creationId xmlns:a16="http://schemas.microsoft.com/office/drawing/2014/main" id="{8DCF2849-1BB7-4BB0-B4AA-780A8802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FF642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6426"/>
                </a:solidFill>
                <a:latin typeface="Arial"/>
                <a:ea typeface="Arial"/>
                <a:cs typeface="Arial"/>
              </a:rPr>
              <a:t>The Lab as a Learning Library</a:t>
            </a:r>
          </a:p>
        </p:txBody>
      </p:sp>
      <p:sp>
        <p:nvSpPr>
          <p:cNvPr id="2" name="04">
            <a:extLst xmlns:a="http://schemas.openxmlformats.org/drawingml/2006/main">
              <a:ext uri="{FF2B5EF4-FFF2-40B4-BE49-F238E27FC236}">
                <a16:creationId xmlns:a16="http://schemas.microsoft.com/office/drawing/2014/main" id="{02C5BF5F-82AD-47AE-AA35-D8E1EBFAA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560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560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Shared access to equipment,&#10;technology and learning resource">
            <a:extLst xmlns:a="http://schemas.openxmlformats.org/drawingml/2006/main">
              <a:ext uri="{FF2B5EF4-FFF2-40B4-BE49-F238E27FC236}">
                <a16:creationId xmlns:a16="http://schemas.microsoft.com/office/drawing/2014/main" id="{ADC1A609-F5E8-4DA9-BAF6-C11D26D9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647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82432"/>
                </a:solidFill>
                <a:latin typeface="Arial"/>
                <a:ea typeface="Arial"/>
                <a:cs typeface="Arial"/>
              </a:rPr>
              <a:t>Shared access to equipment,</a:t>
            </a:r>
          </a:p>
          <a:p xmlns:a="http://schemas.openxmlformats.org/drawingml/2006/main">
            <a:pPr>
              <a:buNone/>
              <a:defRPr sz="2700" b="1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82432"/>
                </a:solidFill>
                <a:latin typeface="Arial"/>
                <a:ea typeface="Arial"/>
                <a:cs typeface="Arial"/>
              </a:rPr>
              <a:t>technology and learning resources</a:t>
            </a:r>
          </a:p>
        </p:txBody>
      </p:sp>
      <p:sp>
        <p:nvSpPr>
          <p:cNvPr id="4" name="Students work beyond&#10;scheduled classes.&#10;&#10;The lab encourages ">
            <a:extLst xmlns:a="http://schemas.openxmlformats.org/drawingml/2006/main">
              <a:ext uri="{FF2B5EF4-FFF2-40B4-BE49-F238E27FC236}">
                <a16:creationId xmlns:a16="http://schemas.microsoft.com/office/drawing/2014/main" id="{42567E80-4517-4BB0-932D-7AB0093A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61912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82432"/>
                </a:solidFill>
                <a:latin typeface="Arial"/>
                <a:ea typeface="Arial"/>
                <a:cs typeface="Arial"/>
              </a:rPr>
              <a:t>Students work beyond</a:t>
            </a:r>
          </a:p>
          <a:p xmlns:a="http://schemas.openxmlformats.org/drawingml/2006/main">
            <a:pPr>
              <a:buNone/>
              <a:defRPr sz="2175" b="0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82432"/>
                </a:solidFill>
                <a:latin typeface="Arial"/>
                <a:ea typeface="Arial"/>
                <a:cs typeface="Arial"/>
              </a:rPr>
              <a:t>scheduled classes.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75" b="0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82432"/>
                </a:solidFill>
                <a:latin typeface="Arial"/>
                <a:ea typeface="Arial"/>
                <a:cs typeface="Arial"/>
              </a:rPr>
              <a:t>The lab encourages initiative</a:t>
            </a:r>
          </a:p>
          <a:p xmlns:a="http://schemas.openxmlformats.org/drawingml/2006/main">
            <a:pPr>
              <a:buNone/>
              <a:defRPr sz="2175" b="0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82432"/>
                </a:solidFill>
                <a:latin typeface="Arial"/>
                <a:ea typeface="Arial"/>
                <a:cs typeface="Arial"/>
              </a:rPr>
              <a:t>and independent use</a:t>
            </a:r>
          </a:p>
          <a:p xmlns:a="http://schemas.openxmlformats.org/drawingml/2006/main">
            <a:pPr>
              <a:buNone/>
              <a:defRPr sz="2175" b="0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82432"/>
                </a:solidFill>
                <a:latin typeface="Arial"/>
                <a:ea typeface="Arial"/>
                <a:cs typeface="Arial"/>
              </a:rPr>
              <a:t>of the available facilities.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bbd6d223d04fe0"/>
          <a:stretch xmlns:a="http://schemas.openxmlformats.org/drawingml/2006/main"/>
        </p:blipFill>
        <p:spPr>
          <a:xfrm xmlns:a="http://schemas.openxmlformats.org/drawingml/2006/main">
            <a:off x="7239000" y="2059392"/>
            <a:ext cx="4343400" cy="350121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0706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Why Canvas Alone Is Not Enough">
            <a:extLst xmlns:a="http://schemas.openxmlformats.org/drawingml/2006/main">
              <a:ext uri="{FF2B5EF4-FFF2-40B4-BE49-F238E27FC236}">
                <a16:creationId xmlns:a16="http://schemas.microsoft.com/office/drawing/2014/main" id="{5F7E9033-A175-4486-AAAF-F9F32F65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FF642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6426"/>
                </a:solidFill>
                <a:latin typeface="Arial"/>
                <a:ea typeface="Arial"/>
                <a:cs typeface="Arial"/>
              </a:rPr>
              <a:t>Why Canvas Alone Is Not Enough</a:t>
            </a:r>
          </a:p>
        </p:txBody>
      </p:sp>
      <p:sp>
        <p:nvSpPr>
          <p:cNvPr id="2" name="05">
            <a:extLst xmlns:a="http://schemas.openxmlformats.org/drawingml/2006/main">
              <a:ext uri="{FF2B5EF4-FFF2-40B4-BE49-F238E27FC236}">
                <a16:creationId xmlns:a16="http://schemas.microsoft.com/office/drawing/2014/main" id="{113294CF-56A4-450A-9128-F6DE8150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560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5606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Different Users">
            <a:extLst xmlns:a="http://schemas.openxmlformats.org/drawingml/2006/main">
              <a:ext uri="{FF2B5EF4-FFF2-40B4-BE49-F238E27FC236}">
                <a16:creationId xmlns:a16="http://schemas.microsoft.com/office/drawing/2014/main" id="{90E6CAB3-BF89-40EC-A65C-89111069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2432"/>
                </a:solidFill>
                <a:latin typeface="Arial"/>
                <a:ea typeface="Arial"/>
                <a:cs typeface="Arial"/>
              </a:rPr>
              <a:t>Different Users</a:t>
            </a:r>
          </a:p>
        </p:txBody>
      </p:sp>
      <p:sp>
        <p:nvSpPr>
          <p:cNvPr id="4" name="Students from different programs.&#10;Members of project teams.&#10;">
            <a:extLst xmlns:a="http://schemas.openxmlformats.org/drawingml/2006/main">
              <a:ext uri="{FF2B5EF4-FFF2-40B4-BE49-F238E27FC236}">
                <a16:creationId xmlns:a16="http://schemas.microsoft.com/office/drawing/2014/main" id="{240F0D63-21E1-47E9-93D7-58EDCBED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2"/>
                </a:solidFill>
                <a:latin typeface="Arial"/>
                <a:ea typeface="Arial"/>
                <a:cs typeface="Arial"/>
              </a:rPr>
              <a:t>Students from different programs.</a:t>
            </a:r>
          </a:p>
          <a:p xmlns:a="http://schemas.openxmlformats.org/drawingml/2006/main">
            <a:pPr>
              <a:buNone/>
              <a:defRPr sz="2025" b="0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2"/>
                </a:solidFill>
                <a:latin typeface="Arial"/>
                <a:ea typeface="Arial"/>
                <a:cs typeface="Arial"/>
              </a:rPr>
              <a:t>Members of project teams.</a:t>
            </a:r>
          </a:p>
          <a:p xmlns:a="http://schemas.openxmlformats.org/drawingml/2006/main">
            <a:pPr>
              <a:buNone/>
              <a:defRPr sz="2025" b="0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2"/>
                </a:solidFill>
                <a:latin typeface="Arial"/>
                <a:ea typeface="Arial"/>
                <a:cs typeface="Arial"/>
              </a:rPr>
              <a:t>External trainees and partners.</a:t>
            </a:r>
          </a:p>
        </p:txBody>
      </p:sp>
      <p:sp>
        <p:nvSpPr>
          <p:cNvPr id="5" name="Access Beyond a Single Course">
            <a:extLst xmlns:a="http://schemas.openxmlformats.org/drawingml/2006/main">
              <a:ext uri="{FF2B5EF4-FFF2-40B4-BE49-F238E27FC236}">
                <a16:creationId xmlns:a16="http://schemas.microsoft.com/office/drawing/2014/main" id="{1EAB1DAC-CDBA-4946-B1B6-E845684C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2432"/>
                </a:solidFill>
                <a:latin typeface="Arial"/>
                <a:ea typeface="Arial"/>
                <a:cs typeface="Arial"/>
              </a:rPr>
              <a:t>Access Beyond a Single Course</a:t>
            </a:r>
          </a:p>
        </p:txBody>
      </p:sp>
      <p:sp>
        <p:nvSpPr>
          <p:cNvPr id="6" name="Several courses and organizations&#10;use the same laboratory.&#10;U">
            <a:extLst xmlns:a="http://schemas.openxmlformats.org/drawingml/2006/main">
              <a:ext uri="{FF2B5EF4-FFF2-40B4-BE49-F238E27FC236}">
                <a16:creationId xmlns:a16="http://schemas.microsoft.com/office/drawing/2014/main" id="{BA608566-69F4-430C-9DBB-E4A92C18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6191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2"/>
                </a:solidFill>
                <a:latin typeface="Arial"/>
                <a:ea typeface="Arial"/>
                <a:cs typeface="Arial"/>
              </a:rPr>
              <a:t>Several courses and organizations</a:t>
            </a:r>
          </a:p>
          <a:p xmlns:a="http://schemas.openxmlformats.org/drawingml/2006/main">
            <a:pPr>
              <a:buNone/>
              <a:defRPr sz="2025" b="0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2"/>
                </a:solidFill>
                <a:latin typeface="Arial"/>
                <a:ea typeface="Arial"/>
                <a:cs typeface="Arial"/>
              </a:rPr>
              <a:t>use the same laboratory.</a:t>
            </a:r>
          </a:p>
          <a:p xmlns:a="http://schemas.openxmlformats.org/drawingml/2006/main">
            <a:pPr>
              <a:buNone/>
              <a:defRPr sz="2025" b="0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2"/>
                </a:solidFill>
                <a:latin typeface="Arial"/>
                <a:ea typeface="Arial"/>
                <a:cs typeface="Arial"/>
              </a:rPr>
              <a:t>User management needs to be independent</a:t>
            </a:r>
          </a:p>
          <a:p xmlns:a="http://schemas.openxmlformats.org/drawingml/2006/main">
            <a:pPr>
              <a:buNone/>
              <a:defRPr sz="2025" b="0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2"/>
                </a:solidFill>
                <a:latin typeface="Arial"/>
                <a:ea typeface="Arial"/>
                <a:cs typeface="Arial"/>
              </a:rPr>
              <a:t>of educational platforms.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32acdd0648447b"/>
          <a:stretch xmlns:a="http://schemas.openxmlformats.org/drawingml/2006/main"/>
        </p:blipFill>
        <p:spPr>
          <a:xfrm xmlns:a="http://schemas.openxmlformats.org/drawingml/2006/main">
            <a:off x="7413481" y="2000250"/>
            <a:ext cx="3984914" cy="3714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7891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tudent Progress">
            <a:extLst xmlns:a="http://schemas.openxmlformats.org/drawingml/2006/main">
              <a:ext uri="{FF2B5EF4-FFF2-40B4-BE49-F238E27FC236}">
                <a16:creationId xmlns:a16="http://schemas.microsoft.com/office/drawing/2014/main" id="{6C250B08-A2DC-4E72-98E2-D5E1B76E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FF642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6426"/>
                </a:solidFill>
                <a:latin typeface="Arial"/>
                <a:ea typeface="Arial"/>
                <a:cs typeface="Arial"/>
              </a:rPr>
              <a:t>Student Progress</a:t>
            </a:r>
          </a:p>
        </p:txBody>
      </p:sp>
      <p:sp>
        <p:nvSpPr>
          <p:cNvPr id="2" name="06">
            <a:extLst xmlns:a="http://schemas.openxmlformats.org/drawingml/2006/main">
              <a:ext uri="{FF2B5EF4-FFF2-40B4-BE49-F238E27FC236}">
                <a16:creationId xmlns:a16="http://schemas.microsoft.com/office/drawing/2014/main" id="{F4E55B72-5D6B-451D-B836-351EB23C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560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5606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Current Situation">
            <a:extLst xmlns:a="http://schemas.openxmlformats.org/drawingml/2006/main">
              <a:ext uri="{FF2B5EF4-FFF2-40B4-BE49-F238E27FC236}">
                <a16:creationId xmlns:a16="http://schemas.microsoft.com/office/drawing/2014/main" id="{9566A691-8F60-4B9B-9209-F90F2F58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2432"/>
                </a:solidFill>
                <a:latin typeface="Arial"/>
                <a:ea typeface="Arial"/>
                <a:cs typeface="Arial"/>
              </a:rPr>
              <a:t>Current Situation</a:t>
            </a:r>
          </a:p>
        </p:txBody>
      </p:sp>
      <p:sp>
        <p:nvSpPr>
          <p:cNvPr id="4" name="Students use different technologies&#10;individually and in team">
            <a:extLst xmlns:a="http://schemas.openxmlformats.org/drawingml/2006/main">
              <a:ext uri="{FF2B5EF4-FFF2-40B4-BE49-F238E27FC236}">
                <a16:creationId xmlns:a16="http://schemas.microsoft.com/office/drawing/2014/main" id="{4CE448C8-8BF9-4A49-B2A4-F73602A6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5143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2"/>
                </a:solidFill>
                <a:latin typeface="Arial"/>
                <a:ea typeface="Arial"/>
                <a:cs typeface="Arial"/>
              </a:rPr>
              <a:t>Students use different technologies</a:t>
            </a:r>
          </a:p>
          <a:p xmlns:a="http://schemas.openxmlformats.org/drawingml/2006/main">
            <a:pPr>
              <a:buNone/>
              <a:defRPr sz="2025" b="0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2"/>
                </a:solidFill>
                <a:latin typeface="Arial"/>
                <a:ea typeface="Arial"/>
                <a:cs typeface="Arial"/>
              </a:rPr>
              <a:t>individually and in teams.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025" b="0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2"/>
                </a:solidFill>
                <a:latin typeface="Arial"/>
                <a:ea typeface="Arial"/>
                <a:cs typeface="Arial"/>
              </a:rPr>
              <a:t>They track their own progress.</a:t>
            </a:r>
          </a:p>
          <a:p xmlns:a="http://schemas.openxmlformats.org/drawingml/2006/main">
            <a:pPr>
              <a:buNone/>
              <a:defRPr sz="2025" b="0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2"/>
                </a:solidFill>
                <a:latin typeface="Arial"/>
                <a:ea typeface="Arial"/>
                <a:cs typeface="Arial"/>
              </a:rPr>
              <a:t>Information is scattered across systems</a:t>
            </a:r>
          </a:p>
          <a:p xmlns:a="http://schemas.openxmlformats.org/drawingml/2006/main">
            <a:pPr>
              <a:buNone/>
              <a:defRPr sz="2025" b="0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2"/>
                </a:solidFill>
                <a:latin typeface="Arial"/>
                <a:ea typeface="Arial"/>
                <a:cs typeface="Arial"/>
              </a:rPr>
              <a:t>and documents.</a:t>
            </a:r>
          </a:p>
        </p:txBody>
      </p:sp>
      <p:sp>
        <p:nvSpPr>
          <p:cNvPr id="5" name="Limited Visibility">
            <a:extLst xmlns:a="http://schemas.openxmlformats.org/drawingml/2006/main">
              <a:ext uri="{FF2B5EF4-FFF2-40B4-BE49-F238E27FC236}">
                <a16:creationId xmlns:a16="http://schemas.microsoft.com/office/drawing/2014/main" id="{DF949546-88A4-4ED7-9968-BE167A43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050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2432"/>
                </a:solidFill>
                <a:latin typeface="Arial"/>
                <a:ea typeface="Arial"/>
                <a:cs typeface="Arial"/>
              </a:rPr>
              <a:t>Limited Visibility</a:t>
            </a:r>
          </a:p>
        </p:txBody>
      </p:sp>
      <p:sp>
        <p:nvSpPr>
          <p:cNvPr id="6" name="Which technologies a student has used.&#10;How progress develops">
            <a:extLst xmlns:a="http://schemas.openxmlformats.org/drawingml/2006/main">
              <a:ext uri="{FF2B5EF4-FFF2-40B4-BE49-F238E27FC236}">
                <a16:creationId xmlns:a16="http://schemas.microsoft.com/office/drawing/2014/main" id="{F963F499-8669-412D-87D4-6E1424EC7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81250"/>
            <a:ext cx="5143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2"/>
                </a:solidFill>
                <a:latin typeface="Arial"/>
                <a:ea typeface="Arial"/>
                <a:cs typeface="Arial"/>
              </a:rPr>
              <a:t>Which technologies a student has used.</a:t>
            </a:r>
          </a:p>
          <a:p xmlns:a="http://schemas.openxmlformats.org/drawingml/2006/main">
            <a:pPr>
              <a:buNone/>
              <a:defRPr sz="2025" b="0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2"/>
                </a:solidFill>
                <a:latin typeface="Arial"/>
                <a:ea typeface="Arial"/>
                <a:cs typeface="Arial"/>
              </a:rPr>
              <a:t>How progress develops across courses</a:t>
            </a:r>
          </a:p>
          <a:p xmlns:a="http://schemas.openxmlformats.org/drawingml/2006/main">
            <a:pPr>
              <a:buNone/>
              <a:defRPr sz="2025" b="0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2"/>
                </a:solidFill>
                <a:latin typeface="Arial"/>
                <a:ea typeface="Arial"/>
                <a:cs typeface="Arial"/>
              </a:rPr>
              <a:t>and projects.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025" b="0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2"/>
                </a:solidFill>
                <a:latin typeface="Arial"/>
                <a:ea typeface="Arial"/>
                <a:cs typeface="Arial"/>
              </a:rPr>
              <a:t>Goal: every student gains experience</a:t>
            </a:r>
          </a:p>
          <a:p xmlns:a="http://schemas.openxmlformats.org/drawingml/2006/main">
            <a:pPr>
              <a:buNone/>
              <a:defRPr sz="2025" b="0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2"/>
                </a:solidFill>
                <a:latin typeface="Arial"/>
                <a:ea typeface="Arial"/>
                <a:cs typeface="Arial"/>
              </a:rPr>
              <a:t>with all relevant technologies.</a:t>
            </a:r>
          </a:p>
        </p:txBody>
      </p:sp>
    </p:spTree>
    <p:extLst>
      <p:ext uri="{BB962C8B-B14F-4D97-AF65-F5344CB8AC3E}">
        <p14:creationId xmlns:p14="http://schemas.microsoft.com/office/powerpoint/2010/main" val="12083183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quipment and Resources">
            <a:extLst xmlns:a="http://schemas.openxmlformats.org/drawingml/2006/main">
              <a:ext uri="{FF2B5EF4-FFF2-40B4-BE49-F238E27FC236}">
                <a16:creationId xmlns:a16="http://schemas.microsoft.com/office/drawing/2014/main" id="{A0026E9D-FC82-4C47-BD83-EEED8DFA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FF642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6426"/>
                </a:solidFill>
                <a:latin typeface="Arial"/>
                <a:ea typeface="Arial"/>
                <a:cs typeface="Arial"/>
              </a:rPr>
              <a:t>Equipment and Resources</a:t>
            </a:r>
          </a:p>
        </p:txBody>
      </p:sp>
      <p:sp>
        <p:nvSpPr>
          <p:cNvPr id="2" name="07">
            <a:extLst xmlns:a="http://schemas.openxmlformats.org/drawingml/2006/main">
              <a:ext uri="{FF2B5EF4-FFF2-40B4-BE49-F238E27FC236}">
                <a16:creationId xmlns:a16="http://schemas.microsoft.com/office/drawing/2014/main" id="{4B1D6339-93D5-4441-9804-26CD208D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560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5606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Hardware, lab setups,&#10;images, videos and datasets">
            <a:extLst xmlns:a="http://schemas.openxmlformats.org/drawingml/2006/main">
              <a:ext uri="{FF2B5EF4-FFF2-40B4-BE49-F238E27FC236}">
                <a16:creationId xmlns:a16="http://schemas.microsoft.com/office/drawing/2014/main" id="{E46E05EA-4FEE-4CAC-ACB8-0AEE11D1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38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2432"/>
                </a:solidFill>
                <a:latin typeface="Arial"/>
                <a:ea typeface="Arial"/>
                <a:cs typeface="Arial"/>
              </a:rPr>
              <a:t>Hardware, lab setups,</a:t>
            </a:r>
          </a:p>
          <a:p xmlns:a="http://schemas.openxmlformats.org/drawingml/2006/main">
            <a:pPr>
              <a:buNone/>
              <a:defRPr sz="2175" b="1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2432"/>
                </a:solidFill>
                <a:latin typeface="Arial"/>
                <a:ea typeface="Arial"/>
                <a:cs typeface="Arial"/>
              </a:rPr>
              <a:t>images, videos and datasets</a:t>
            </a:r>
          </a:p>
        </p:txBody>
      </p:sp>
      <p:sp>
        <p:nvSpPr>
          <p:cNvPr id="4" name="Current Tracking Problems">
            <a:extLst xmlns:a="http://schemas.openxmlformats.org/drawingml/2006/main">
              <a:ext uri="{FF2B5EF4-FFF2-40B4-BE49-F238E27FC236}">
                <a16:creationId xmlns:a16="http://schemas.microsoft.com/office/drawing/2014/main" id="{314B1B36-81E1-41A5-B1E8-CB62B5A1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2432"/>
                </a:solidFill>
                <a:latin typeface="Arial"/>
                <a:ea typeface="Arial"/>
                <a:cs typeface="Arial"/>
              </a:rPr>
              <a:t>Current Tracking Problems</a:t>
            </a:r>
          </a:p>
        </p:txBody>
      </p:sp>
      <p:sp>
        <p:nvSpPr>
          <p:cNvPr id="5" name="Inventory is maintained in Excel.&#10;Resource availability is n">
            <a:extLst xmlns:a="http://schemas.openxmlformats.org/drawingml/2006/main">
              <a:ext uri="{FF2B5EF4-FFF2-40B4-BE49-F238E27FC236}">
                <a16:creationId xmlns:a16="http://schemas.microsoft.com/office/drawing/2014/main" id="{FB6F7A29-66AC-4C8E-B060-F1359123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6286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2"/>
                </a:solidFill>
                <a:latin typeface="Arial"/>
                <a:ea typeface="Arial"/>
                <a:cs typeface="Arial"/>
              </a:rPr>
              <a:t>Inventory is maintained in Excel.</a:t>
            </a:r>
          </a:p>
          <a:p xmlns:a="http://schemas.openxmlformats.org/drawingml/2006/main">
            <a:pPr>
              <a:buNone/>
              <a:defRPr sz="2025" b="0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2"/>
                </a:solidFill>
                <a:latin typeface="Arial"/>
                <a:ea typeface="Arial"/>
                <a:cs typeface="Arial"/>
              </a:rPr>
              <a:t>Resource availability is not always clear.</a:t>
            </a:r>
          </a:p>
          <a:p xmlns:a="http://schemas.openxmlformats.org/drawingml/2006/main">
            <a:pPr>
              <a:buNone/>
              <a:defRPr sz="2025" b="0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2"/>
                </a:solidFill>
                <a:latin typeface="Arial"/>
                <a:ea typeface="Arial"/>
                <a:cs typeface="Arial"/>
              </a:rPr>
              <a:t>Usage history is difficult to track.</a:t>
            </a:r>
          </a:p>
          <a:p xmlns:a="http://schemas.openxmlformats.org/drawingml/2006/main">
            <a:pPr>
              <a:buNone/>
              <a:defRPr sz="2025" b="0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2"/>
                </a:solidFill>
                <a:latin typeface="Arial"/>
                <a:ea typeface="Arial"/>
                <a:cs typeface="Arial"/>
              </a:rPr>
              <a:t>Responsibility is not always clear.</a:t>
            </a:r>
          </a:p>
          <a:p xmlns:a="http://schemas.openxmlformats.org/drawingml/2006/main">
            <a:pPr>
              <a:buNone/>
              <a:defRPr sz="2025" b="0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2"/>
                </a:solidFill>
                <a:latin typeface="Arial"/>
                <a:ea typeface="Arial"/>
                <a:cs typeface="Arial"/>
              </a:rPr>
              <a:t>Faults are documented inconsistently.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9233f279184a69"/>
          <a:stretch xmlns:a="http://schemas.openxmlformats.org/drawingml/2006/main"/>
        </p:blipFill>
        <p:spPr>
          <a:xfrm xmlns:a="http://schemas.openxmlformats.org/drawingml/2006/main">
            <a:off x="7381875" y="2137172"/>
            <a:ext cx="4048125" cy="344090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7081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servations and Lending">
            <a:extLst xmlns:a="http://schemas.openxmlformats.org/drawingml/2006/main">
              <a:ext uri="{FF2B5EF4-FFF2-40B4-BE49-F238E27FC236}">
                <a16:creationId xmlns:a16="http://schemas.microsoft.com/office/drawing/2014/main" id="{BDEEF1D1-9DD4-4E6F-9DEB-7CE3D558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FF642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6426"/>
                </a:solidFill>
                <a:latin typeface="Arial"/>
                <a:ea typeface="Arial"/>
                <a:cs typeface="Arial"/>
              </a:rPr>
              <a:t>Reservations and Lending</a:t>
            </a:r>
          </a:p>
        </p:txBody>
      </p:sp>
      <p:sp>
        <p:nvSpPr>
          <p:cNvPr id="2" name="08">
            <a:extLst xmlns:a="http://schemas.openxmlformats.org/drawingml/2006/main">
              <a:ext uri="{FF2B5EF4-FFF2-40B4-BE49-F238E27FC236}">
                <a16:creationId xmlns:a16="http://schemas.microsoft.com/office/drawing/2014/main" id="{C340DEE0-B13F-4C0A-9ECF-34323274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560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5606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fe9ddfaa8a4d59"/>
          <a:stretch xmlns:a="http://schemas.openxmlformats.org/drawingml/2006/main"/>
        </p:blipFill>
        <p:spPr>
          <a:xfrm xmlns:a="http://schemas.openxmlformats.org/drawingml/2006/main">
            <a:off x="666141" y="1733550"/>
            <a:ext cx="3744542" cy="4400550"/>
          </a:xfrm>
          <a:prstGeom xmlns:a="http://schemas.openxmlformats.org/drawingml/2006/main" prst="rect">
            <a:avLst/>
          </a:prstGeom>
        </p:spPr>
      </p:pic>
      <p:sp>
        <p:nvSpPr>
          <p:cNvPr id="4" name="Current Situation">
            <a:extLst xmlns:a="http://schemas.openxmlformats.org/drawingml/2006/main">
              <a:ext uri="{FF2B5EF4-FFF2-40B4-BE49-F238E27FC236}">
                <a16:creationId xmlns:a16="http://schemas.microsoft.com/office/drawing/2014/main" id="{ECB28E6A-0DFF-4094-8555-00A5C2326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828800"/>
            <a:ext cx="647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2432"/>
                </a:solidFill>
                <a:latin typeface="Arial"/>
                <a:ea typeface="Arial"/>
                <a:cs typeface="Arial"/>
              </a:rPr>
              <a:t>Current Situation</a:t>
            </a:r>
          </a:p>
        </p:txBody>
      </p:sp>
      <p:sp>
        <p:nvSpPr>
          <p:cNvPr id="5" name="Requests are often handled verbally.&#10;Information is spread a">
            <a:extLst xmlns:a="http://schemas.openxmlformats.org/drawingml/2006/main">
              <a:ext uri="{FF2B5EF4-FFF2-40B4-BE49-F238E27FC236}">
                <a16:creationId xmlns:a16="http://schemas.microsoft.com/office/drawing/2014/main" id="{21849B89-2794-4AD7-9ECF-F6B2A99A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305050"/>
            <a:ext cx="647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2"/>
                </a:solidFill>
                <a:latin typeface="Arial"/>
                <a:ea typeface="Arial"/>
                <a:cs typeface="Arial"/>
              </a:rPr>
              <a:t>Requests are often handled verbally.</a:t>
            </a:r>
          </a:p>
          <a:p xmlns:a="http://schemas.openxmlformats.org/drawingml/2006/main">
            <a:pPr>
              <a:buNone/>
              <a:defRPr sz="2025" b="0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2"/>
                </a:solidFill>
                <a:latin typeface="Arial"/>
                <a:ea typeface="Arial"/>
                <a:cs typeface="Arial"/>
              </a:rPr>
              <a:t>Information is spread across channels.</a:t>
            </a:r>
          </a:p>
          <a:p xmlns:a="http://schemas.openxmlformats.org/drawingml/2006/main">
            <a:pPr>
              <a:buNone/>
              <a:defRPr sz="2025" b="0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2"/>
                </a:solidFill>
                <a:latin typeface="Arial"/>
                <a:ea typeface="Arial"/>
                <a:cs typeface="Arial"/>
              </a:rPr>
              <a:t>Reservation conflicts are difficult to detect.</a:t>
            </a:r>
          </a:p>
        </p:txBody>
      </p:sp>
      <p:sp>
        <p:nvSpPr>
          <p:cNvPr id="6" name="Information Needed">
            <a:extLst xmlns:a="http://schemas.openxmlformats.org/drawingml/2006/main">
              <a:ext uri="{FF2B5EF4-FFF2-40B4-BE49-F238E27FC236}">
                <a16:creationId xmlns:a16="http://schemas.microsoft.com/office/drawing/2014/main" id="{A339B14D-E019-4CD7-ADE9-4A9C1A0B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114800"/>
            <a:ext cx="647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2432"/>
                </a:solidFill>
                <a:latin typeface="Arial"/>
                <a:ea typeface="Arial"/>
                <a:cs typeface="Arial"/>
              </a:rPr>
              <a:t>Information Needed</a:t>
            </a:r>
          </a:p>
        </p:txBody>
      </p:sp>
      <p:sp>
        <p:nvSpPr>
          <p:cNvPr id="7" name="Who is using each resource.&#10;Which project each resource supp">
            <a:extLst xmlns:a="http://schemas.openxmlformats.org/drawingml/2006/main">
              <a:ext uri="{FF2B5EF4-FFF2-40B4-BE49-F238E27FC236}">
                <a16:creationId xmlns:a16="http://schemas.microsoft.com/office/drawing/2014/main" id="{40D461D5-8EC6-476F-899D-DD8EAFA0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591050"/>
            <a:ext cx="647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2"/>
                </a:solidFill>
                <a:latin typeface="Arial"/>
                <a:ea typeface="Arial"/>
                <a:cs typeface="Arial"/>
              </a:rPr>
              <a:t>Who is using each resource.</a:t>
            </a:r>
          </a:p>
          <a:p xmlns:a="http://schemas.openxmlformats.org/drawingml/2006/main">
            <a:pPr>
              <a:buNone/>
              <a:defRPr sz="2025" b="0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2"/>
                </a:solidFill>
                <a:latin typeface="Arial"/>
                <a:ea typeface="Arial"/>
                <a:cs typeface="Arial"/>
              </a:rPr>
              <a:t>Which project each resource supports.</a:t>
            </a:r>
          </a:p>
          <a:p xmlns:a="http://schemas.openxmlformats.org/drawingml/2006/main">
            <a:pPr>
              <a:buNone/>
              <a:defRPr sz="2025" b="0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2"/>
                </a:solidFill>
                <a:latin typeface="Arial"/>
                <a:ea typeface="Arial"/>
                <a:cs typeface="Arial"/>
              </a:rPr>
              <a:t>What is available and what is reserved.</a:t>
            </a:r>
          </a:p>
        </p:txBody>
      </p:sp>
    </p:spTree>
    <p:extLst>
      <p:ext uri="{BB962C8B-B14F-4D97-AF65-F5344CB8AC3E}">
        <p14:creationId xmlns:p14="http://schemas.microsoft.com/office/powerpoint/2010/main" val="6810062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urchasing and Budget">
            <a:extLst xmlns:a="http://schemas.openxmlformats.org/drawingml/2006/main">
              <a:ext uri="{FF2B5EF4-FFF2-40B4-BE49-F238E27FC236}">
                <a16:creationId xmlns:a16="http://schemas.microsoft.com/office/drawing/2014/main" id="{EC73D53B-F1E0-4985-B796-70840AFD8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FF642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6426"/>
                </a:solidFill>
                <a:latin typeface="Arial"/>
                <a:ea typeface="Arial"/>
                <a:cs typeface="Arial"/>
              </a:rPr>
              <a:t>Purchasing and Budget</a:t>
            </a:r>
          </a:p>
        </p:txBody>
      </p:sp>
      <p:sp>
        <p:nvSpPr>
          <p:cNvPr id="2" name="09">
            <a:extLst xmlns:a="http://schemas.openxmlformats.org/drawingml/2006/main">
              <a:ext uri="{FF2B5EF4-FFF2-40B4-BE49-F238E27FC236}">
                <a16:creationId xmlns:a16="http://schemas.microsoft.com/office/drawing/2014/main" id="{060D7EB7-E0C1-4C91-B75E-7811BFFF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560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5606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Manual Processes">
            <a:extLst xmlns:a="http://schemas.openxmlformats.org/drawingml/2006/main">
              <a:ext uri="{FF2B5EF4-FFF2-40B4-BE49-F238E27FC236}">
                <a16:creationId xmlns:a16="http://schemas.microsoft.com/office/drawing/2014/main" id="{CF77CBEE-8046-4DDC-8DC2-B3A9EAE1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38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2432"/>
                </a:solidFill>
                <a:latin typeface="Arial"/>
                <a:ea typeface="Arial"/>
                <a:cs typeface="Arial"/>
              </a:rPr>
              <a:t>Manual Processes</a:t>
            </a:r>
          </a:p>
        </p:txBody>
      </p:sp>
      <p:sp>
        <p:nvSpPr>
          <p:cNvPr id="4" name="Purchase requests and budget tracking&#10;are handled largely ma">
            <a:extLst xmlns:a="http://schemas.openxmlformats.org/drawingml/2006/main">
              <a:ext uri="{FF2B5EF4-FFF2-40B4-BE49-F238E27FC236}">
                <a16:creationId xmlns:a16="http://schemas.microsoft.com/office/drawing/2014/main" id="{B81B4EA7-9322-4568-ADAB-240B8B3F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6381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2"/>
                </a:solidFill>
                <a:latin typeface="Arial"/>
                <a:ea typeface="Arial"/>
                <a:cs typeface="Arial"/>
              </a:rPr>
              <a:t>Purchase requests and budget tracking</a:t>
            </a:r>
          </a:p>
          <a:p xmlns:a="http://schemas.openxmlformats.org/drawingml/2006/main">
            <a:pPr>
              <a:buNone/>
              <a:defRPr sz="2025" b="0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2"/>
                </a:solidFill>
                <a:latin typeface="Arial"/>
                <a:ea typeface="Arial"/>
                <a:cs typeface="Arial"/>
              </a:rPr>
              <a:t>are handled largely manually.</a:t>
            </a:r>
          </a:p>
          <a:p xmlns:a="http://schemas.openxmlformats.org/drawingml/2006/main">
            <a:pPr>
              <a:buNone/>
              <a:defRPr sz="2025" b="0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2"/>
                </a:solidFill>
                <a:latin typeface="Arial"/>
                <a:ea typeface="Arial"/>
                <a:cs typeface="Arial"/>
              </a:rPr>
              <a:t>Quotations are scattered.</a:t>
            </a:r>
          </a:p>
          <a:p xmlns:a="http://schemas.openxmlformats.org/drawingml/2006/main">
            <a:pPr>
              <a:buNone/>
              <a:defRPr sz="2025" b="0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2"/>
                </a:solidFill>
                <a:latin typeface="Arial"/>
                <a:ea typeface="Arial"/>
                <a:cs typeface="Arial"/>
              </a:rPr>
              <a:t>Visibility across other labs is limited.</a:t>
            </a:r>
          </a:p>
        </p:txBody>
      </p:sp>
      <p:sp>
        <p:nvSpPr>
          <p:cNvPr id="5" name="Questions for Decision-Making">
            <a:extLst xmlns:a="http://schemas.openxmlformats.org/drawingml/2006/main">
              <a:ext uri="{FF2B5EF4-FFF2-40B4-BE49-F238E27FC236}">
                <a16:creationId xmlns:a16="http://schemas.microsoft.com/office/drawing/2014/main" id="{5373A14E-CCA4-42FB-8FDE-3A3A196B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676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2432"/>
                </a:solidFill>
                <a:latin typeface="Arial"/>
                <a:ea typeface="Arial"/>
                <a:cs typeface="Arial"/>
              </a:rPr>
              <a:t>Questions for Decision-Making</a:t>
            </a:r>
          </a:p>
        </p:txBody>
      </p:sp>
      <p:sp>
        <p:nvSpPr>
          <p:cNvPr id="6" name="What should we buy next?&#10;Do we already own similar equipment">
            <a:extLst xmlns:a="http://schemas.openxmlformats.org/drawingml/2006/main">
              <a:ext uri="{FF2B5EF4-FFF2-40B4-BE49-F238E27FC236}">
                <a16:creationId xmlns:a16="http://schemas.microsoft.com/office/drawing/2014/main" id="{0DD35B55-673E-4B6D-8B9D-1E1A9547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6762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2"/>
                </a:solidFill>
                <a:latin typeface="Arial"/>
                <a:ea typeface="Arial"/>
                <a:cs typeface="Arial"/>
              </a:rPr>
              <a:t>What should we buy next?</a:t>
            </a:r>
          </a:p>
          <a:p xmlns:a="http://schemas.openxmlformats.org/drawingml/2006/main">
            <a:pPr>
              <a:buNone/>
              <a:defRPr sz="2025" b="0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2"/>
                </a:solidFill>
                <a:latin typeface="Arial"/>
                <a:ea typeface="Arial"/>
                <a:cs typeface="Arial"/>
              </a:rPr>
              <a:t>Do we already own similar equipment?</a:t>
            </a:r>
          </a:p>
          <a:p xmlns:a="http://schemas.openxmlformats.org/drawingml/2006/main">
            <a:pPr>
              <a:buNone/>
              <a:defRPr sz="2025" b="0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2"/>
                </a:solidFill>
                <a:latin typeface="Arial"/>
                <a:ea typeface="Arial"/>
                <a:cs typeface="Arial"/>
              </a:rPr>
              <a:t>Can another lab provide the resource?</a:t>
            </a:r>
          </a:p>
          <a:p xmlns:a="http://schemas.openxmlformats.org/drawingml/2006/main">
            <a:pPr>
              <a:buNone/>
              <a:defRPr sz="2025" b="0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2"/>
                </a:solidFill>
                <a:latin typeface="Arial"/>
                <a:ea typeface="Arial"/>
                <a:cs typeface="Arial"/>
              </a:rPr>
              <a:t>What data supports the investment?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d3085a49c94253"/>
          <a:stretch xmlns:a="http://schemas.openxmlformats.org/drawingml/2006/main"/>
        </p:blipFill>
        <p:spPr>
          <a:xfrm xmlns:a="http://schemas.openxmlformats.org/drawingml/2006/main">
            <a:off x="7800820" y="2047875"/>
            <a:ext cx="3448360" cy="3476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8272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xpected Outcome">
            <a:extLst xmlns:a="http://schemas.openxmlformats.org/drawingml/2006/main">
              <a:ext uri="{FF2B5EF4-FFF2-40B4-BE49-F238E27FC236}">
                <a16:creationId xmlns:a16="http://schemas.microsoft.com/office/drawing/2014/main" id="{1C0D4690-DFF0-400F-AC93-7393EA7C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FF642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6426"/>
                </a:solidFill>
                <a:latin typeface="Arial"/>
                <a:ea typeface="Arial"/>
                <a:cs typeface="Arial"/>
              </a:rPr>
              <a:t>Expected Outcome</a:t>
            </a:r>
          </a:p>
        </p:txBody>
      </p:sp>
      <p:sp>
        <p:nvSpPr>
          <p:cNvPr id="2" name="10">
            <a:extLst xmlns:a="http://schemas.openxmlformats.org/drawingml/2006/main">
              <a:ext uri="{FF2B5EF4-FFF2-40B4-BE49-F238E27FC236}">
                <a16:creationId xmlns:a16="http://schemas.microsoft.com/office/drawing/2014/main" id="{8FFD2183-E4C9-433B-80F2-5E1293EA2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560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5606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Less Time on Administration">
            <a:extLst xmlns:a="http://schemas.openxmlformats.org/drawingml/2006/main">
              <a:ext uri="{FF2B5EF4-FFF2-40B4-BE49-F238E27FC236}">
                <a16:creationId xmlns:a16="http://schemas.microsoft.com/office/drawing/2014/main" id="{3115CE7F-39F5-429D-97BE-8AB08E49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82432"/>
                </a:solidFill>
                <a:latin typeface="Arial"/>
                <a:ea typeface="Arial"/>
                <a:cs typeface="Arial"/>
              </a:rPr>
              <a:t>Less Time on Administration</a:t>
            </a:r>
          </a:p>
        </p:txBody>
      </p:sp>
      <p:sp>
        <p:nvSpPr>
          <p:cNvPr id="4" name="More time for education, innovation&#10;and student support.">
            <a:extLst xmlns:a="http://schemas.openxmlformats.org/drawingml/2006/main">
              <a:ext uri="{FF2B5EF4-FFF2-40B4-BE49-F238E27FC236}">
                <a16:creationId xmlns:a16="http://schemas.microsoft.com/office/drawing/2014/main" id="{4D136198-7E36-48FA-AD57-4382C02A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628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082432"/>
                </a:solidFill>
                <a:latin typeface="Arial"/>
                <a:ea typeface="Arial"/>
                <a:cs typeface="Arial"/>
              </a:rPr>
              <a:t>More time for education, innovation</a:t>
            </a:r>
          </a:p>
          <a:p xmlns:a="http://schemas.openxmlformats.org/drawingml/2006/main">
            <a:pPr>
              <a:buNone/>
              <a:defRPr sz="2325" b="0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082432"/>
                </a:solidFill>
                <a:latin typeface="Arial"/>
                <a:ea typeface="Arial"/>
                <a:cs typeface="Arial"/>
              </a:rPr>
              <a:t>and student support.</a:t>
            </a:r>
          </a:p>
        </p:txBody>
      </p:sp>
      <p:sp>
        <p:nvSpPr>
          <p:cNvPr id="5" name="A Clear Overview">
            <a:extLst xmlns:a="http://schemas.openxmlformats.org/drawingml/2006/main">
              <a:ext uri="{FF2B5EF4-FFF2-40B4-BE49-F238E27FC236}">
                <a16:creationId xmlns:a16="http://schemas.microsoft.com/office/drawing/2014/main" id="{215D89E4-C178-4384-9EDB-D894385C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647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2432"/>
                </a:solidFill>
                <a:latin typeface="Arial"/>
                <a:ea typeface="Arial"/>
                <a:cs typeface="Arial"/>
              </a:rPr>
              <a:t>A Clear Overview</a:t>
            </a:r>
          </a:p>
        </p:txBody>
      </p:sp>
      <p:sp>
        <p:nvSpPr>
          <p:cNvPr id="6" name="Available resources and their usage.&#10;Student progress and pr">
            <a:extLst xmlns:a="http://schemas.openxmlformats.org/drawingml/2006/main">
              <a:ext uri="{FF2B5EF4-FFF2-40B4-BE49-F238E27FC236}">
                <a16:creationId xmlns:a16="http://schemas.microsoft.com/office/drawing/2014/main" id="{8007BDE7-D737-4E65-AF87-194F988F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6477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2"/>
                </a:solidFill>
                <a:latin typeface="Arial"/>
                <a:ea typeface="Arial"/>
                <a:cs typeface="Arial"/>
              </a:rPr>
              <a:t>Available resources and their usage.</a:t>
            </a:r>
          </a:p>
          <a:p xmlns:a="http://schemas.openxmlformats.org/drawingml/2006/main">
            <a:pPr>
              <a:buNone/>
              <a:defRPr sz="2025" b="0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2"/>
                </a:solidFill>
                <a:latin typeface="Arial"/>
                <a:ea typeface="Arial"/>
                <a:cs typeface="Arial"/>
              </a:rPr>
              <a:t>Student progress and project activity.</a:t>
            </a:r>
          </a:p>
          <a:p xmlns:a="http://schemas.openxmlformats.org/drawingml/2006/main">
            <a:pPr>
              <a:buNone/>
              <a:defRPr sz="2025" b="0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2"/>
                </a:solidFill>
                <a:latin typeface="Arial"/>
                <a:ea typeface="Arial"/>
                <a:cs typeface="Arial"/>
              </a:rPr>
              <a:t>Reservations, budget status</a:t>
            </a:r>
          </a:p>
          <a:p xmlns:a="http://schemas.openxmlformats.org/drawingml/2006/main">
            <a:pPr>
              <a:buNone/>
              <a:defRPr sz="2025" b="0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2"/>
                </a:solidFill>
                <a:latin typeface="Arial"/>
                <a:ea typeface="Arial"/>
                <a:cs typeface="Arial"/>
              </a:rPr>
              <a:t>and future investments.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a3f0be04c449ea"/>
          <a:stretch xmlns:a="http://schemas.openxmlformats.org/drawingml/2006/main"/>
        </p:blipFill>
        <p:spPr>
          <a:xfrm xmlns:a="http://schemas.openxmlformats.org/drawingml/2006/main">
            <a:off x="7572375" y="2668912"/>
            <a:ext cx="3857625" cy="347280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924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One Platform for the Entire Lab">
            <a:extLst xmlns:a="http://schemas.openxmlformats.org/drawingml/2006/main">
              <a:ext uri="{FF2B5EF4-FFF2-40B4-BE49-F238E27FC236}">
                <a16:creationId xmlns:a16="http://schemas.microsoft.com/office/drawing/2014/main" id="{3614281C-D6EA-4D63-B7DD-4BE8966D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FF642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6426"/>
                </a:solidFill>
                <a:latin typeface="Arial"/>
                <a:ea typeface="Arial"/>
                <a:cs typeface="Arial"/>
              </a:rPr>
              <a:t>One Platform for the Entire Lab</a:t>
            </a:r>
          </a:p>
        </p:txBody>
      </p:sp>
      <p:sp>
        <p:nvSpPr>
          <p:cNvPr id="2" name="11">
            <a:extLst xmlns:a="http://schemas.openxmlformats.org/drawingml/2006/main">
              <a:ext uri="{FF2B5EF4-FFF2-40B4-BE49-F238E27FC236}">
                <a16:creationId xmlns:a16="http://schemas.microsoft.com/office/drawing/2014/main" id="{D5FCEC59-C437-4252-AE8B-1582701E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560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5606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Desired Capabilities">
            <a:extLst xmlns:a="http://schemas.openxmlformats.org/drawingml/2006/main">
              <a:ext uri="{FF2B5EF4-FFF2-40B4-BE49-F238E27FC236}">
                <a16:creationId xmlns:a16="http://schemas.microsoft.com/office/drawing/2014/main" id="{04002F2B-B8B4-44BC-8353-CA04251F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628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82432"/>
                </a:solidFill>
                <a:latin typeface="Arial"/>
                <a:ea typeface="Arial"/>
                <a:cs typeface="Arial"/>
              </a:rPr>
              <a:t>Desired Capabilities</a:t>
            </a:r>
          </a:p>
        </p:txBody>
      </p:sp>
      <p:sp>
        <p:nvSpPr>
          <p:cNvPr id="4" name="User and resource management.&#10;Reservations and collaboration">
            <a:extLst xmlns:a="http://schemas.openxmlformats.org/drawingml/2006/main">
              <a:ext uri="{FF2B5EF4-FFF2-40B4-BE49-F238E27FC236}">
                <a16:creationId xmlns:a16="http://schemas.microsoft.com/office/drawing/2014/main" id="{E963EFF2-BFF8-4B39-84D8-667073F9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6572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82432"/>
                </a:solidFill>
                <a:latin typeface="Arial"/>
                <a:ea typeface="Arial"/>
                <a:cs typeface="Arial"/>
              </a:rPr>
              <a:t>User and resource management.</a:t>
            </a:r>
          </a:p>
          <a:p xmlns:a="http://schemas.openxmlformats.org/drawingml/2006/main">
            <a:pPr>
              <a:buNone/>
              <a:defRPr sz="2100" b="0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82432"/>
                </a:solidFill>
                <a:latin typeface="Arial"/>
                <a:ea typeface="Arial"/>
                <a:cs typeface="Arial"/>
              </a:rPr>
              <a:t>Reservations and collaboration.</a:t>
            </a:r>
          </a:p>
          <a:p xmlns:a="http://schemas.openxmlformats.org/drawingml/2006/main">
            <a:pPr>
              <a:buNone/>
              <a:defRPr sz="2100" b="0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82432"/>
                </a:solidFill>
                <a:latin typeface="Arial"/>
                <a:ea typeface="Arial"/>
                <a:cs typeface="Arial"/>
              </a:rPr>
              <a:t>Student and project team progress.</a:t>
            </a:r>
          </a:p>
          <a:p xmlns:a="http://schemas.openxmlformats.org/drawingml/2006/main">
            <a:pPr>
              <a:buNone/>
              <a:defRPr sz="2100" b="0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82432"/>
                </a:solidFill>
                <a:latin typeface="Arial"/>
                <a:ea typeface="Arial"/>
                <a:cs typeface="Arial"/>
              </a:rPr>
              <a:t>Purchasing and budgeting support.</a:t>
            </a:r>
          </a:p>
          <a:p xmlns:a="http://schemas.openxmlformats.org/drawingml/2006/main">
            <a:pPr>
              <a:buNone/>
              <a:defRPr sz="2100" b="0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82432"/>
                </a:solidFill>
                <a:latin typeface="Arial"/>
                <a:ea typeface="Arial"/>
                <a:cs typeface="Arial"/>
              </a:rPr>
              <a:t>Analytics and reports.</a:t>
            </a:r>
          </a:p>
        </p:txBody>
      </p:sp>
      <p:sp>
        <p:nvSpPr>
          <p:cNvPr id="5" name="The Author’s Additional Wishes">
            <a:extLst xmlns:a="http://schemas.openxmlformats.org/drawingml/2006/main">
              <a:ext uri="{FF2B5EF4-FFF2-40B4-BE49-F238E27FC236}">
                <a16:creationId xmlns:a16="http://schemas.microsoft.com/office/drawing/2014/main" id="{02B7BF81-3023-4347-8212-7785BD0D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681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2432"/>
                </a:solidFill>
                <a:latin typeface="Arial"/>
                <a:ea typeface="Arial"/>
                <a:cs typeface="Arial"/>
              </a:rPr>
              <a:t>The Author’s Additional Wishes</a:t>
            </a:r>
          </a:p>
        </p:txBody>
      </p:sp>
      <p:sp>
        <p:nvSpPr>
          <p:cNvPr id="6" name="An AI assistant, automated insights,&#10;purchasing recommendati">
            <a:extLst xmlns:a="http://schemas.openxmlformats.org/drawingml/2006/main">
              <a:ext uri="{FF2B5EF4-FFF2-40B4-BE49-F238E27FC236}">
                <a16:creationId xmlns:a16="http://schemas.microsoft.com/office/drawing/2014/main" id="{C5676AC4-1D6C-449A-9455-2D7BE429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695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82432"/>
                </a:solidFill>
                <a:latin typeface="Arial"/>
                <a:ea typeface="Arial"/>
                <a:cs typeface="Arial"/>
              </a:rPr>
              <a:t>An AI assistant, automated insights,</a:t>
            </a:r>
          </a:p>
          <a:p xmlns:a="http://schemas.openxmlformats.org/drawingml/2006/main">
            <a:pPr>
              <a:buNone/>
              <a:defRPr sz="1950" b="0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82432"/>
                </a:solidFill>
                <a:latin typeface="Arial"/>
                <a:ea typeface="Arial"/>
                <a:cs typeface="Arial"/>
              </a:rPr>
              <a:t>purchasing recommendations</a:t>
            </a:r>
          </a:p>
          <a:p xmlns:a="http://schemas.openxmlformats.org/drawingml/2006/main">
            <a:pPr>
              <a:buNone/>
              <a:defRPr sz="1950" b="0">
                <a:solidFill>
                  <a:srgbClr val="08243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82432"/>
                </a:solidFill>
                <a:latin typeface="Arial"/>
                <a:ea typeface="Arial"/>
                <a:cs typeface="Arial"/>
              </a:rPr>
              <a:t>and a Machine Vision knowledge hub.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6887331dad4f7d"/>
          <a:stretch xmlns:a="http://schemas.openxmlformats.org/drawingml/2006/main"/>
        </p:blipFill>
        <p:spPr>
          <a:xfrm xmlns:a="http://schemas.openxmlformats.org/drawingml/2006/main">
            <a:off x="8048625" y="2057554"/>
            <a:ext cx="3381375" cy="322866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503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2026-10-02T08:37:51.1860000Z</dcterms:created>
  <dcterms:modified xsi:type="dcterms:W3CDTF">2026-10-02T08:37:51.1860000Z</dcterms:modified>
</coreProperties>
</file>